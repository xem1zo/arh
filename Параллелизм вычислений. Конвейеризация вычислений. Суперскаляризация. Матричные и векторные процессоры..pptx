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2263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5" name="Text 1"/>
          <p:cNvSpPr/>
          <p:nvPr/>
        </p:nvSpPr>
        <p:spPr>
          <a:xfrm>
            <a:off x="6234545" y="1248987"/>
            <a:ext cx="5985164" cy="581891"/>
          </a:xfrm>
          <a:prstGeom prst="rect">
            <a:avLst/>
          </a:prstGeom>
          <a:noFill/>
          <a:ln/>
        </p:spPr>
        <p:txBody>
          <a:bodyPr wrap="square" rtlCol="0" anchor="ctr"/>
          <a:lstStyle/>
          <a:p>
            <a:pPr marL="0" indent="0" algn="l">
              <a:buNone/>
            </a:pPr>
            <a:r>
              <a:rPr lang="en-US" sz="2200" b="1" dirty="0">
                <a:solidFill>
                  <a:srgbClr val="000000"/>
                </a:solidFill>
              </a:rPr>
              <a:t>Параллелизм вычислений</a:t>
            </a:r>
            <a:endParaRPr lang="en-US" sz="2200" dirty="0"/>
          </a:p>
        </p:txBody>
      </p:sp>
      <p:sp>
        <p:nvSpPr>
          <p:cNvPr id="6" name="Text 2"/>
          <p:cNvSpPr/>
          <p:nvPr/>
        </p:nvSpPr>
        <p:spPr>
          <a:xfrm>
            <a:off x="6234545" y="2327564"/>
            <a:ext cx="5818909" cy="1928553"/>
          </a:xfrm>
          <a:prstGeom prst="rect">
            <a:avLst/>
          </a:prstGeom>
          <a:noFill/>
          <a:ln/>
        </p:spPr>
        <p:txBody>
          <a:bodyPr wrap="square" rtlCol="0" anchor="ctr"/>
          <a:lstStyle/>
          <a:p>
            <a:pPr marL="0" indent="0" algn="l">
              <a:lnSpc>
                <a:spcPts val="2000"/>
              </a:lnSpc>
              <a:buNone/>
            </a:pPr>
            <a:r>
              <a:rPr lang="en-US" sz="1400" dirty="0">
                <a:solidFill>
                  <a:srgbClr val="000000"/>
                </a:solidFill>
              </a:rPr>
              <a:t>В данной презентации мы рассмотрим основные концепции параллелизма вычислений, включая конвейеризацию и суперскаляризацию. Особое внимание будет уделено матричным и векторным процессорам, их особенностям и применению в различных вычислительных задачах. Также мы обсудим преимущества параллелизма и примеры его использования в практике.</a:t>
            </a:r>
            <a:endParaRPr lang="en-US" sz="1400" dirty="0"/>
          </a:p>
        </p:txBody>
      </p:sp>
      <p:pic>
        <p:nvPicPr>
          <p:cNvPr id="7" name="Рисунок 6">
            <a:extLst>
              <a:ext uri="{FF2B5EF4-FFF2-40B4-BE49-F238E27FC236}">
                <a16:creationId xmlns:a16="http://schemas.microsoft.com/office/drawing/2014/main" id="{C29F2AEA-8652-8E17-7458-E61502401BAA}"/>
              </a:ext>
            </a:extLst>
          </p:cNvPr>
          <p:cNvPicPr>
            <a:picLocks noChangeAspect="1"/>
          </p:cNvPicPr>
          <p:nvPr/>
        </p:nvPicPr>
        <p:blipFill>
          <a:blip r:embed="rId4"/>
          <a:stretch>
            <a:fillRect/>
          </a:stretch>
        </p:blipFill>
        <p:spPr>
          <a:xfrm>
            <a:off x="806669" y="1797269"/>
            <a:ext cx="2989142" cy="29891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454727" y="750224"/>
            <a:ext cx="10141528" cy="581890"/>
          </a:xfrm>
          <a:prstGeom prst="rect">
            <a:avLst/>
          </a:prstGeom>
          <a:noFill/>
          <a:ln/>
        </p:spPr>
        <p:txBody>
          <a:bodyPr wrap="square" rtlCol="0" anchor="ctr"/>
          <a:lstStyle/>
          <a:p>
            <a:pPr marL="0" indent="0" algn="l">
              <a:buNone/>
            </a:pPr>
            <a:r>
              <a:rPr lang="en-US" sz="2200" b="1" dirty="0">
                <a:solidFill>
                  <a:srgbClr val="000000"/>
                </a:solidFill>
              </a:rPr>
              <a:t>Определение конвейеризации</a:t>
            </a:r>
            <a:endParaRPr lang="en-US" sz="2200" dirty="0"/>
          </a:p>
        </p:txBody>
      </p:sp>
      <p:sp>
        <p:nvSpPr>
          <p:cNvPr id="4" name="Text 1"/>
          <p:cNvSpPr/>
          <p:nvPr/>
        </p:nvSpPr>
        <p:spPr>
          <a:xfrm>
            <a:off x="1454727" y="2078182"/>
            <a:ext cx="9975273" cy="1429789"/>
          </a:xfrm>
          <a:prstGeom prst="rect">
            <a:avLst/>
          </a:prstGeom>
          <a:noFill/>
          <a:ln/>
        </p:spPr>
        <p:txBody>
          <a:bodyPr wrap="square" rtlCol="0" anchor="ctr"/>
          <a:lstStyle/>
          <a:p>
            <a:pPr marL="0" indent="0" algn="l">
              <a:lnSpc>
                <a:spcPts val="2000"/>
              </a:lnSpc>
              <a:buNone/>
            </a:pPr>
            <a:r>
              <a:rPr lang="en-US" sz="1400" dirty="0">
                <a:solidFill>
                  <a:srgbClr val="000000"/>
                </a:solidFill>
              </a:rPr>
              <a:t>Конвейеризация вычислений — это метод организации выполнения команд, при котором отдельные этапы вычислений выполняются параллельно в различных частях аппаратного обеспечения. Этот подход позволяет повысить производительность процессора за счёт разделения выполнения одной задачи на несколько последовательных этапов, каждый из которых осуществляется отдельным блоком, что обеспечивает непрерывный поток выполнения инструкций.</a:t>
            </a:r>
            <a:endParaRPr lang="en-US" sz="1400" dirty="0"/>
          </a:p>
        </p:txBody>
      </p:sp>
      <p:sp>
        <p:nvSpPr>
          <p:cNvPr id="5" name="Text 2"/>
          <p:cNvSpPr/>
          <p:nvPr/>
        </p:nvSpPr>
        <p:spPr>
          <a:xfrm>
            <a:off x="1454727" y="3507971"/>
            <a:ext cx="9975273" cy="681644"/>
          </a:xfrm>
          <a:prstGeom prst="rect">
            <a:avLst/>
          </a:prstGeom>
          <a:noFill/>
          <a:ln/>
        </p:spPr>
        <p:txBody>
          <a:bodyPr wrap="square" rtlCol="0" anchor="ctr"/>
          <a:lstStyle/>
          <a:p>
            <a:pPr marL="0" indent="0" algn="l">
              <a:lnSpc>
                <a:spcPts val="2000"/>
              </a:lnSpc>
              <a:buNone/>
            </a:pPr>
            <a:r>
              <a:rPr lang="en-US" sz="1400" dirty="0">
                <a:solidFill>
                  <a:srgbClr val="000000"/>
                </a:solidFill>
              </a:rPr>
              <a:t>Конвейеризация обеспечивает более эффективное использование аппаратных ресурсов и ускорение обработки данных.</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5" name="Text 1"/>
          <p:cNvSpPr/>
          <p:nvPr/>
        </p:nvSpPr>
        <p:spPr>
          <a:xfrm>
            <a:off x="4696691" y="1082733"/>
            <a:ext cx="5985164" cy="581891"/>
          </a:xfrm>
          <a:prstGeom prst="rect">
            <a:avLst/>
          </a:prstGeom>
          <a:noFill/>
          <a:ln/>
        </p:spPr>
        <p:txBody>
          <a:bodyPr wrap="square" rtlCol="0" anchor="ctr"/>
          <a:lstStyle/>
          <a:p>
            <a:pPr marL="0" indent="0" algn="l">
              <a:buNone/>
            </a:pPr>
            <a:r>
              <a:rPr lang="en-US" sz="2200" b="1" dirty="0">
                <a:solidFill>
                  <a:srgbClr val="000000"/>
                </a:solidFill>
              </a:rPr>
              <a:t>Принцип суперскаляризации</a:t>
            </a:r>
            <a:endParaRPr lang="en-US" sz="2200" dirty="0"/>
          </a:p>
        </p:txBody>
      </p:sp>
      <p:sp>
        <p:nvSpPr>
          <p:cNvPr id="6" name="Text 2"/>
          <p:cNvSpPr/>
          <p:nvPr/>
        </p:nvSpPr>
        <p:spPr>
          <a:xfrm>
            <a:off x="4696691" y="2078182"/>
            <a:ext cx="5818909" cy="1928553"/>
          </a:xfrm>
          <a:prstGeom prst="rect">
            <a:avLst/>
          </a:prstGeom>
          <a:noFill/>
          <a:ln/>
        </p:spPr>
        <p:txBody>
          <a:bodyPr wrap="square" rtlCol="0" anchor="ctr"/>
          <a:lstStyle/>
          <a:p>
            <a:pPr marL="0" indent="0" algn="l">
              <a:lnSpc>
                <a:spcPts val="2000"/>
              </a:lnSpc>
              <a:buNone/>
            </a:pPr>
            <a:r>
              <a:rPr lang="en-US" sz="1400" dirty="0">
                <a:solidFill>
                  <a:srgbClr val="000000"/>
                </a:solidFill>
              </a:rPr>
              <a:t>Принцип суперскаляризации позволяет процессору выполнять несколько инструкций одновременно за один такт, разбивая их на более мелкие операции и обрабатывая независимо друг от друга. Это достигается за счёт наличия нескольких функциональных блоков внутри процессора, которые могут работать параллельно, что значительно увеличивает производительность и эффективность вычислений.</a:t>
            </a:r>
            <a:endParaRPr lang="en-US" sz="1400" dirty="0"/>
          </a:p>
        </p:txBody>
      </p:sp>
      <p:sp>
        <p:nvSpPr>
          <p:cNvPr id="7" name="Text 3"/>
          <p:cNvSpPr/>
          <p:nvPr/>
        </p:nvSpPr>
        <p:spPr>
          <a:xfrm>
            <a:off x="4696691" y="4006735"/>
            <a:ext cx="5818909" cy="931025"/>
          </a:xfrm>
          <a:prstGeom prst="rect">
            <a:avLst/>
          </a:prstGeom>
          <a:noFill/>
          <a:ln/>
        </p:spPr>
        <p:txBody>
          <a:bodyPr wrap="square" rtlCol="0" anchor="ctr"/>
          <a:lstStyle/>
          <a:p>
            <a:pPr marL="0" indent="0" algn="l">
              <a:lnSpc>
                <a:spcPts val="2000"/>
              </a:lnSpc>
              <a:buNone/>
            </a:pPr>
            <a:r>
              <a:rPr lang="en-US" sz="1400" dirty="0">
                <a:solidFill>
                  <a:srgbClr val="000000"/>
                </a:solidFill>
              </a:rPr>
              <a:t>Суперскаляризация особенно полезна в условиях высокой нагрузки, когда требуется максимальная скорость обработки данных.</a:t>
            </a:r>
            <a:endParaRPr lang="en-US" sz="1400" dirty="0"/>
          </a:p>
        </p:txBody>
      </p:sp>
      <p:pic>
        <p:nvPicPr>
          <p:cNvPr id="4" name="Рисунок 3">
            <a:extLst>
              <a:ext uri="{FF2B5EF4-FFF2-40B4-BE49-F238E27FC236}">
                <a16:creationId xmlns:a16="http://schemas.microsoft.com/office/drawing/2014/main" id="{4DE8BF61-C100-47A3-1B66-72D7DE036210}"/>
              </a:ext>
            </a:extLst>
          </p:cNvPr>
          <p:cNvPicPr>
            <a:picLocks noChangeAspect="1"/>
          </p:cNvPicPr>
          <p:nvPr/>
        </p:nvPicPr>
        <p:blipFill>
          <a:blip r:embed="rId3"/>
          <a:stretch>
            <a:fillRect/>
          </a:stretch>
        </p:blipFill>
        <p:spPr>
          <a:xfrm>
            <a:off x="303092" y="2078182"/>
            <a:ext cx="4231071" cy="24709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454727" y="417715"/>
            <a:ext cx="10141528" cy="581891"/>
          </a:xfrm>
          <a:prstGeom prst="rect">
            <a:avLst/>
          </a:prstGeom>
          <a:noFill/>
          <a:ln/>
        </p:spPr>
        <p:txBody>
          <a:bodyPr wrap="square" rtlCol="0" anchor="ctr"/>
          <a:lstStyle/>
          <a:p>
            <a:pPr marL="0" indent="0" algn="l">
              <a:buNone/>
            </a:pPr>
            <a:r>
              <a:rPr lang="en-US" sz="2200" b="1" dirty="0">
                <a:solidFill>
                  <a:srgbClr val="000000"/>
                </a:solidFill>
              </a:rPr>
              <a:t>Матричные процессоры</a:t>
            </a:r>
            <a:endParaRPr lang="en-US" sz="2200" dirty="0"/>
          </a:p>
        </p:txBody>
      </p:sp>
      <p:sp>
        <p:nvSpPr>
          <p:cNvPr id="4" name="Text 1"/>
          <p:cNvSpPr/>
          <p:nvPr/>
        </p:nvSpPr>
        <p:spPr>
          <a:xfrm>
            <a:off x="1454727" y="1662545"/>
            <a:ext cx="6650182" cy="931025"/>
          </a:xfrm>
          <a:prstGeom prst="rect">
            <a:avLst/>
          </a:prstGeom>
          <a:noFill/>
          <a:ln/>
        </p:spPr>
        <p:txBody>
          <a:bodyPr wrap="square" rtlCol="0" anchor="ctr"/>
          <a:lstStyle/>
          <a:p>
            <a:pPr marL="0" indent="0" algn="l">
              <a:lnSpc>
                <a:spcPts val="2000"/>
              </a:lnSpc>
              <a:buNone/>
            </a:pPr>
            <a:r>
              <a:rPr lang="en-US" sz="1400" dirty="0">
                <a:solidFill>
                  <a:srgbClr val="000000"/>
                </a:solidFill>
              </a:rPr>
              <a:t>Матричные процессоры представляют собой специализированные вычислительные устройства, предназначенные для выполнения операций над многомерными массивами данных.</a:t>
            </a:r>
            <a:endParaRPr lang="en-US" sz="1400" dirty="0"/>
          </a:p>
        </p:txBody>
      </p:sp>
      <p:sp>
        <p:nvSpPr>
          <p:cNvPr id="5" name="Text 2"/>
          <p:cNvSpPr/>
          <p:nvPr/>
        </p:nvSpPr>
        <p:spPr>
          <a:xfrm>
            <a:off x="1454727" y="2909455"/>
            <a:ext cx="6650182" cy="931025"/>
          </a:xfrm>
          <a:prstGeom prst="rect">
            <a:avLst/>
          </a:prstGeom>
          <a:noFill/>
          <a:ln/>
        </p:spPr>
        <p:txBody>
          <a:bodyPr wrap="square" rtlCol="0" anchor="ctr"/>
          <a:lstStyle/>
          <a:p>
            <a:pPr marL="0" indent="0" algn="l">
              <a:lnSpc>
                <a:spcPts val="2000"/>
              </a:lnSpc>
              <a:buNone/>
            </a:pPr>
            <a:r>
              <a:rPr lang="en-US" sz="1400" dirty="0">
                <a:solidFill>
                  <a:srgbClr val="000000"/>
                </a:solidFill>
              </a:rPr>
              <a:t>Они эффективно обрабатывают матричные и векторные операции, что делает их незаменимыми в научных и инженерных расчётах, а также в задачах компьютерного зрения и обработки сигналов.</a:t>
            </a:r>
            <a:endParaRPr lang="en-US" sz="1400" dirty="0"/>
          </a:p>
        </p:txBody>
      </p:sp>
      <p:sp>
        <p:nvSpPr>
          <p:cNvPr id="6" name="Text 3"/>
          <p:cNvSpPr/>
          <p:nvPr/>
        </p:nvSpPr>
        <p:spPr>
          <a:xfrm>
            <a:off x="1454727" y="3840480"/>
            <a:ext cx="6650182" cy="681644"/>
          </a:xfrm>
          <a:prstGeom prst="rect">
            <a:avLst/>
          </a:prstGeom>
          <a:noFill/>
          <a:ln/>
        </p:spPr>
        <p:txBody>
          <a:bodyPr wrap="square" rtlCol="0" anchor="ctr"/>
          <a:lstStyle/>
          <a:p>
            <a:pPr marL="0" indent="0" algn="l">
              <a:lnSpc>
                <a:spcPts val="2000"/>
              </a:lnSpc>
              <a:buNone/>
            </a:pPr>
            <a:r>
              <a:rPr lang="en-US" sz="1400" dirty="0">
                <a:solidFill>
                  <a:srgbClr val="000000"/>
                </a:solidFill>
              </a:rPr>
              <a:t>Эти процессоры обеспечивают значительное ускорение вычислений за счёт параллельной обработки данных.</a:t>
            </a:r>
            <a:endParaRPr lang="en-US" sz="1400" dirty="0"/>
          </a:p>
        </p:txBody>
      </p:sp>
      <p:pic>
        <p:nvPicPr>
          <p:cNvPr id="7" name="Рисунок 6">
            <a:extLst>
              <a:ext uri="{FF2B5EF4-FFF2-40B4-BE49-F238E27FC236}">
                <a16:creationId xmlns:a16="http://schemas.microsoft.com/office/drawing/2014/main" id="{9E53C1D4-FE29-F5D0-5840-C15F89911558}"/>
              </a:ext>
            </a:extLst>
          </p:cNvPr>
          <p:cNvPicPr>
            <a:picLocks noChangeAspect="1"/>
          </p:cNvPicPr>
          <p:nvPr/>
        </p:nvPicPr>
        <p:blipFill>
          <a:blip r:embed="rId4"/>
          <a:stretch>
            <a:fillRect/>
          </a:stretch>
        </p:blipFill>
        <p:spPr>
          <a:xfrm>
            <a:off x="8354345" y="2511684"/>
            <a:ext cx="3387812" cy="18346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454727" y="750224"/>
            <a:ext cx="10141528" cy="581893"/>
          </a:xfrm>
          <a:prstGeom prst="rect">
            <a:avLst/>
          </a:prstGeom>
          <a:noFill/>
          <a:ln/>
        </p:spPr>
        <p:txBody>
          <a:bodyPr wrap="square" rtlCol="0" anchor="ctr"/>
          <a:lstStyle/>
          <a:p>
            <a:pPr marL="0" indent="0" algn="l">
              <a:buNone/>
            </a:pPr>
            <a:r>
              <a:rPr lang="en-US" sz="2200" b="1" dirty="0">
                <a:solidFill>
                  <a:srgbClr val="000000"/>
                </a:solidFill>
              </a:rPr>
              <a:t>Векторные процессоры</a:t>
            </a:r>
            <a:endParaRPr lang="en-US" sz="2200" dirty="0"/>
          </a:p>
        </p:txBody>
      </p:sp>
      <p:sp>
        <p:nvSpPr>
          <p:cNvPr id="4" name="Text 1"/>
          <p:cNvSpPr/>
          <p:nvPr/>
        </p:nvSpPr>
        <p:spPr>
          <a:xfrm>
            <a:off x="1454727" y="2078182"/>
            <a:ext cx="9975273" cy="1429789"/>
          </a:xfrm>
          <a:prstGeom prst="rect">
            <a:avLst/>
          </a:prstGeom>
          <a:noFill/>
          <a:ln/>
        </p:spPr>
        <p:txBody>
          <a:bodyPr wrap="square" rtlCol="0" anchor="ctr"/>
          <a:lstStyle/>
          <a:p>
            <a:pPr marL="0" indent="0" algn="l">
              <a:lnSpc>
                <a:spcPts val="2000"/>
              </a:lnSpc>
              <a:buNone/>
            </a:pPr>
            <a:r>
              <a:rPr lang="en-US" sz="1400" dirty="0">
                <a:solidFill>
                  <a:srgbClr val="000000"/>
                </a:solidFill>
              </a:rPr>
              <a:t>Векторные процессоры представляют собой специализированные вычислительные устройства, оптимизированные для выполнения операций с векторами и массивами данных. Они обеспечивают значительное ускорение обработки больших объёмов информации за счёт параллельного выполнения операций над элементами векторов, что делает их особенно эффективными в научных и инженерных расчётах, а также в задачах машинного обучения и обработки изображений.</a:t>
            </a:r>
            <a:endParaRPr lang="en-US" sz="1400" dirty="0"/>
          </a:p>
        </p:txBody>
      </p:sp>
      <p:sp>
        <p:nvSpPr>
          <p:cNvPr id="5" name="Text 2"/>
          <p:cNvSpPr/>
          <p:nvPr/>
        </p:nvSpPr>
        <p:spPr>
          <a:xfrm>
            <a:off x="1454727" y="3507971"/>
            <a:ext cx="9975273" cy="681644"/>
          </a:xfrm>
          <a:prstGeom prst="rect">
            <a:avLst/>
          </a:prstGeom>
          <a:noFill/>
          <a:ln/>
        </p:spPr>
        <p:txBody>
          <a:bodyPr wrap="square" rtlCol="0" anchor="ctr"/>
          <a:lstStyle/>
          <a:p>
            <a:pPr marL="0" indent="0" algn="l">
              <a:lnSpc>
                <a:spcPts val="2000"/>
              </a:lnSpc>
              <a:buNone/>
            </a:pPr>
            <a:r>
              <a:rPr lang="en-US" sz="1400" dirty="0">
                <a:solidFill>
                  <a:srgbClr val="000000"/>
                </a:solidFill>
              </a:rPr>
              <a:t>Применение векторных процессоров позволяет существенно повысить производительность и эффективность вычислительных систем в различных областях.</a:t>
            </a:r>
            <a:endParaRPr lang="en-US" sz="1400" dirty="0"/>
          </a:p>
        </p:txBody>
      </p:sp>
      <p:pic>
        <p:nvPicPr>
          <p:cNvPr id="6" name="Рисунок 5">
            <a:extLst>
              <a:ext uri="{FF2B5EF4-FFF2-40B4-BE49-F238E27FC236}">
                <a16:creationId xmlns:a16="http://schemas.microsoft.com/office/drawing/2014/main" id="{49D1BFA7-45E8-B9DC-A208-6F34DC56F2B5}"/>
              </a:ext>
            </a:extLst>
          </p:cNvPr>
          <p:cNvPicPr>
            <a:picLocks noChangeAspect="1"/>
          </p:cNvPicPr>
          <p:nvPr/>
        </p:nvPicPr>
        <p:blipFill>
          <a:blip r:embed="rId4"/>
          <a:stretch>
            <a:fillRect/>
          </a:stretch>
        </p:blipFill>
        <p:spPr>
          <a:xfrm>
            <a:off x="6659749" y="4191048"/>
            <a:ext cx="3568919" cy="22341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246909" y="417715"/>
            <a:ext cx="10141528" cy="581891"/>
          </a:xfrm>
          <a:prstGeom prst="rect">
            <a:avLst/>
          </a:prstGeom>
          <a:noFill/>
          <a:ln/>
        </p:spPr>
        <p:txBody>
          <a:bodyPr wrap="square" rtlCol="0" anchor="ctr"/>
          <a:lstStyle/>
          <a:p>
            <a:pPr marL="0" indent="0" algn="l">
              <a:buNone/>
            </a:pPr>
            <a:r>
              <a:rPr lang="en-US" sz="2200" b="1" dirty="0">
                <a:solidFill>
                  <a:srgbClr val="000000"/>
                </a:solidFill>
              </a:rPr>
              <a:t>Преимущества параллелизма</a:t>
            </a:r>
            <a:endParaRPr lang="en-US" sz="2200" dirty="0"/>
          </a:p>
        </p:txBody>
      </p:sp>
      <p:sp>
        <p:nvSpPr>
          <p:cNvPr id="4" name="Text 1"/>
          <p:cNvSpPr/>
          <p:nvPr/>
        </p:nvSpPr>
        <p:spPr>
          <a:xfrm>
            <a:off x="1246909" y="1662545"/>
            <a:ext cx="9144000" cy="931025"/>
          </a:xfrm>
          <a:prstGeom prst="rect">
            <a:avLst/>
          </a:prstGeom>
          <a:noFill/>
          <a:ln/>
        </p:spPr>
        <p:txBody>
          <a:bodyPr wrap="square" rtlCol="0" anchor="ctr"/>
          <a:lstStyle/>
          <a:p>
            <a:pPr marL="0" indent="0" algn="l">
              <a:lnSpc>
                <a:spcPts val="2000"/>
              </a:lnSpc>
              <a:buNone/>
            </a:pPr>
            <a:r>
              <a:rPr lang="en-US" sz="1400" dirty="0">
                <a:solidFill>
                  <a:srgbClr val="000000"/>
                </a:solidFill>
              </a:rPr>
              <a:t>Параллелизм вычислений позволяет значительно ускорить обработку данных за счёт одновременного выполнения нескольких операций, что особенно важно при работе с большими объёмами информации.</a:t>
            </a:r>
            <a:endParaRPr lang="en-US" sz="1400" dirty="0"/>
          </a:p>
        </p:txBody>
      </p:sp>
      <p:sp>
        <p:nvSpPr>
          <p:cNvPr id="5" name="Text 2"/>
          <p:cNvSpPr/>
          <p:nvPr/>
        </p:nvSpPr>
        <p:spPr>
          <a:xfrm>
            <a:off x="1246909" y="4156364"/>
            <a:ext cx="4156364" cy="1928553"/>
          </a:xfrm>
          <a:prstGeom prst="rect">
            <a:avLst/>
          </a:prstGeom>
          <a:noFill/>
          <a:ln/>
        </p:spPr>
        <p:txBody>
          <a:bodyPr wrap="square" rtlCol="0" anchor="ctr"/>
          <a:lstStyle/>
          <a:p>
            <a:pPr marL="0" indent="0" algn="l">
              <a:lnSpc>
                <a:spcPts val="2000"/>
              </a:lnSpc>
              <a:buNone/>
            </a:pPr>
            <a:r>
              <a:rPr lang="en-US" sz="1400" dirty="0">
                <a:solidFill>
                  <a:srgbClr val="000000"/>
                </a:solidFill>
              </a:rPr>
              <a:t>Это способствует повышению производительности систем и более эффективному использованию вычислительных ресурсов, обеспечивая при этом сокращение времени выполнения задач и улучшение общей эффективности работы.</a:t>
            </a:r>
            <a:endParaRPr lang="en-US" sz="1400" dirty="0"/>
          </a:p>
        </p:txBody>
      </p:sp>
      <p:sp>
        <p:nvSpPr>
          <p:cNvPr id="6" name="Text 3"/>
          <p:cNvSpPr/>
          <p:nvPr/>
        </p:nvSpPr>
        <p:spPr>
          <a:xfrm>
            <a:off x="7065818" y="4156364"/>
            <a:ext cx="4156364" cy="1429789"/>
          </a:xfrm>
          <a:prstGeom prst="rect">
            <a:avLst/>
          </a:prstGeom>
          <a:noFill/>
          <a:ln/>
        </p:spPr>
        <p:txBody>
          <a:bodyPr wrap="square" rtlCol="0" anchor="ctr"/>
          <a:lstStyle/>
          <a:p>
            <a:pPr marL="0" indent="0" algn="l">
              <a:lnSpc>
                <a:spcPts val="2000"/>
              </a:lnSpc>
              <a:buNone/>
            </a:pPr>
            <a:r>
              <a:rPr lang="en-US" sz="1400" dirty="0">
                <a:solidFill>
                  <a:srgbClr val="000000"/>
                </a:solidFill>
              </a:rPr>
              <a:t>Применение параллелизма открывает новые возможности для решения сложных вычислительных задач, которые ранее были недоступны из-за ограничений производительности.</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454727" y="750224"/>
            <a:ext cx="10141528" cy="581891"/>
          </a:xfrm>
          <a:prstGeom prst="rect">
            <a:avLst/>
          </a:prstGeom>
          <a:noFill/>
          <a:ln/>
        </p:spPr>
        <p:txBody>
          <a:bodyPr wrap="square" rtlCol="0" anchor="ctr"/>
          <a:lstStyle/>
          <a:p>
            <a:pPr marL="0" indent="0" algn="l">
              <a:buNone/>
            </a:pPr>
            <a:r>
              <a:rPr lang="en-US" sz="2200" b="1" dirty="0">
                <a:solidFill>
                  <a:srgbClr val="000000"/>
                </a:solidFill>
              </a:rPr>
              <a:t>Примеры использования конвейеризации</a:t>
            </a:r>
            <a:endParaRPr lang="en-US" sz="2200" dirty="0"/>
          </a:p>
        </p:txBody>
      </p:sp>
      <p:sp>
        <p:nvSpPr>
          <p:cNvPr id="4" name="Text 1"/>
          <p:cNvSpPr/>
          <p:nvPr/>
        </p:nvSpPr>
        <p:spPr>
          <a:xfrm>
            <a:off x="1454727" y="2078182"/>
            <a:ext cx="9975273" cy="1679171"/>
          </a:xfrm>
          <a:prstGeom prst="rect">
            <a:avLst/>
          </a:prstGeom>
          <a:noFill/>
          <a:ln/>
        </p:spPr>
        <p:txBody>
          <a:bodyPr wrap="square" rtlCol="0" anchor="ctr"/>
          <a:lstStyle/>
          <a:p>
            <a:pPr marL="0" indent="0" algn="l">
              <a:lnSpc>
                <a:spcPts val="2000"/>
              </a:lnSpc>
              <a:buNone/>
            </a:pPr>
            <a:r>
              <a:rPr lang="en-US" sz="1400" dirty="0">
                <a:solidFill>
                  <a:srgbClr val="000000"/>
                </a:solidFill>
              </a:rPr>
              <a:t>Конвейеризация эффективно применяется в микропроцессорах для ускорения выполнения команд, например, в современных центральных процессорах, где отдельные этапы обработки инструкций выполняются параллельно, что позволяет значительно повысить производительность. В сфере обработки данных конвейеризация используется для параллельного выполнения операций в специализированных устройствах, таких как сетевые карты и адаптеры для работы с графикой, обеспечивая более высокую пропускную способность и скорость обработки данных.</a:t>
            </a:r>
            <a:endParaRPr lang="en-US" sz="1400" dirty="0"/>
          </a:p>
        </p:txBody>
      </p:sp>
      <p:sp>
        <p:nvSpPr>
          <p:cNvPr id="5" name="Text 2"/>
          <p:cNvSpPr/>
          <p:nvPr/>
        </p:nvSpPr>
        <p:spPr>
          <a:xfrm>
            <a:off x="1454727" y="3757353"/>
            <a:ext cx="9975273" cy="931025"/>
          </a:xfrm>
          <a:prstGeom prst="rect">
            <a:avLst/>
          </a:prstGeom>
          <a:noFill/>
          <a:ln/>
        </p:spPr>
        <p:txBody>
          <a:bodyPr wrap="square" rtlCol="0" anchor="ctr"/>
          <a:lstStyle/>
          <a:p>
            <a:pPr marL="0" indent="0" algn="l">
              <a:lnSpc>
                <a:spcPts val="2000"/>
              </a:lnSpc>
              <a:buNone/>
            </a:pPr>
            <a:r>
              <a:rPr lang="en-US" sz="1400" dirty="0">
                <a:solidFill>
                  <a:srgbClr val="000000"/>
                </a:solidFill>
              </a:rPr>
              <a:t>Кроме того, конвейеризация находит применение в системах, требующих интенсивной вычислительной нагрузки, например, в научных исследованиях и финансовых вычислениях, где требуется обработка больших объёмов данных.</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454727" y="750224"/>
            <a:ext cx="10141528" cy="581891"/>
          </a:xfrm>
          <a:prstGeom prst="rect">
            <a:avLst/>
          </a:prstGeom>
          <a:noFill/>
          <a:ln/>
        </p:spPr>
        <p:txBody>
          <a:bodyPr wrap="square" rtlCol="0" anchor="ctr"/>
          <a:lstStyle/>
          <a:p>
            <a:pPr marL="0" indent="0" algn="l">
              <a:buNone/>
            </a:pPr>
            <a:r>
              <a:rPr lang="en-US" sz="2200" b="1" dirty="0">
                <a:solidFill>
                  <a:srgbClr val="000000"/>
                </a:solidFill>
              </a:rPr>
              <a:t>Применение суперскаляризации</a:t>
            </a:r>
            <a:endParaRPr lang="en-US" sz="2200" dirty="0"/>
          </a:p>
        </p:txBody>
      </p:sp>
      <p:sp>
        <p:nvSpPr>
          <p:cNvPr id="4" name="Text 1"/>
          <p:cNvSpPr/>
          <p:nvPr/>
        </p:nvSpPr>
        <p:spPr>
          <a:xfrm>
            <a:off x="1454727" y="2078182"/>
            <a:ext cx="9975273" cy="681644"/>
          </a:xfrm>
          <a:prstGeom prst="rect">
            <a:avLst/>
          </a:prstGeom>
          <a:noFill/>
          <a:ln/>
        </p:spPr>
        <p:txBody>
          <a:bodyPr wrap="square" rtlCol="0" anchor="ctr"/>
          <a:lstStyle/>
          <a:p>
            <a:pPr marL="0" indent="0" algn="l">
              <a:lnSpc>
                <a:spcPts val="2000"/>
              </a:lnSpc>
              <a:buNone/>
            </a:pPr>
            <a:r>
              <a:rPr lang="en-US" sz="1400" dirty="0">
                <a:solidFill>
                  <a:srgbClr val="000000"/>
                </a:solidFill>
              </a:rPr>
              <a:t>Суперскаляризация позволяет процессору выполнять несколько инструкций одновременно за один такт, что значительно увеличивает производительность вычислительных систем.</a:t>
            </a:r>
            <a:endParaRPr lang="en-US" sz="1400" dirty="0"/>
          </a:p>
        </p:txBody>
      </p:sp>
      <p:sp>
        <p:nvSpPr>
          <p:cNvPr id="5" name="Text 2"/>
          <p:cNvSpPr/>
          <p:nvPr/>
        </p:nvSpPr>
        <p:spPr>
          <a:xfrm>
            <a:off x="1454727" y="3241964"/>
            <a:ext cx="9975273" cy="1180407"/>
          </a:xfrm>
          <a:prstGeom prst="rect">
            <a:avLst/>
          </a:prstGeom>
          <a:noFill/>
          <a:ln/>
        </p:spPr>
        <p:txBody>
          <a:bodyPr wrap="square" rtlCol="0" anchor="ctr"/>
          <a:lstStyle/>
          <a:p>
            <a:pPr marL="0" indent="0" algn="l">
              <a:lnSpc>
                <a:spcPts val="2000"/>
              </a:lnSpc>
              <a:buNone/>
            </a:pPr>
            <a:r>
              <a:rPr lang="en-US" sz="1400" dirty="0">
                <a:solidFill>
                  <a:srgbClr val="000000"/>
                </a:solidFill>
              </a:rPr>
              <a:t>Эта технология особенно эффективна в приложениях, требующих интенсивных вычислений, таких как научные расчёты, обработка графики и машинное обучение, где параллельное выполнение инструкций может существенно сократить время выполнения задач. Применение суперскаляризации способствует повышению общей эффективности и скорости работы компьютерных систем в различных областях.</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415636" y="833351"/>
            <a:ext cx="10141528" cy="581891"/>
          </a:xfrm>
          <a:prstGeom prst="rect">
            <a:avLst/>
          </a:prstGeom>
          <a:noFill/>
          <a:ln/>
        </p:spPr>
        <p:txBody>
          <a:bodyPr wrap="square" rtlCol="0" anchor="ctr"/>
          <a:lstStyle/>
          <a:p>
            <a:pPr marL="0" indent="0" algn="l">
              <a:buNone/>
            </a:pPr>
            <a:r>
              <a:rPr lang="en-US" sz="2200" b="1" dirty="0">
                <a:solidFill>
                  <a:srgbClr val="000000"/>
                </a:solidFill>
              </a:rPr>
              <a:t>Особенности матричных процессоров</a:t>
            </a:r>
            <a:endParaRPr lang="en-US" sz="2200" dirty="0"/>
          </a:p>
        </p:txBody>
      </p:sp>
      <p:sp>
        <p:nvSpPr>
          <p:cNvPr id="4" name="Text 1"/>
          <p:cNvSpPr/>
          <p:nvPr/>
        </p:nvSpPr>
        <p:spPr>
          <a:xfrm>
            <a:off x="415636" y="2078182"/>
            <a:ext cx="3325091" cy="1928553"/>
          </a:xfrm>
          <a:prstGeom prst="rect">
            <a:avLst/>
          </a:prstGeom>
          <a:noFill/>
          <a:ln/>
        </p:spPr>
        <p:txBody>
          <a:bodyPr wrap="square" rtlCol="0" anchor="ctr"/>
          <a:lstStyle/>
          <a:p>
            <a:pPr marL="0" indent="0" algn="l">
              <a:lnSpc>
                <a:spcPts val="2000"/>
              </a:lnSpc>
              <a:buNone/>
            </a:pPr>
            <a:r>
              <a:rPr lang="en-US" sz="1400" dirty="0">
                <a:solidFill>
                  <a:srgbClr val="000000"/>
                </a:solidFill>
              </a:rPr>
              <a:t>Матричные процессоры предназначены для выполнения операций над многомерными массивами данных, что позволяет эффективно обрабатывать большие объёмы информации в параллельном режиме.</a:t>
            </a:r>
            <a:endParaRPr lang="en-US" sz="1400" dirty="0"/>
          </a:p>
        </p:txBody>
      </p:sp>
      <p:sp>
        <p:nvSpPr>
          <p:cNvPr id="5" name="Text 2"/>
          <p:cNvSpPr/>
          <p:nvPr/>
        </p:nvSpPr>
        <p:spPr>
          <a:xfrm>
            <a:off x="4572000" y="2078182"/>
            <a:ext cx="3325091" cy="2676698"/>
          </a:xfrm>
          <a:prstGeom prst="rect">
            <a:avLst/>
          </a:prstGeom>
          <a:noFill/>
          <a:ln/>
        </p:spPr>
        <p:txBody>
          <a:bodyPr wrap="square" rtlCol="0" anchor="ctr"/>
          <a:lstStyle/>
          <a:p>
            <a:pPr marL="0" indent="0" algn="l">
              <a:lnSpc>
                <a:spcPts val="2000"/>
              </a:lnSpc>
              <a:buNone/>
            </a:pPr>
            <a:r>
              <a:rPr lang="en-US" sz="1400" dirty="0">
                <a:solidFill>
                  <a:srgbClr val="000000"/>
                </a:solidFill>
              </a:rPr>
              <a:t>Они используют специализированную архитектуру, которая обеспечивает высокую производительность при выполнении однотипных операций, что делает их идеальными для задач, требующих интенсивных вычислений, таких как обработка изображений и научные расчёты.</a:t>
            </a:r>
            <a:endParaRPr lang="en-US" sz="1400" dirty="0"/>
          </a:p>
        </p:txBody>
      </p:sp>
      <p:sp>
        <p:nvSpPr>
          <p:cNvPr id="6" name="Text 3"/>
          <p:cNvSpPr/>
          <p:nvPr/>
        </p:nvSpPr>
        <p:spPr>
          <a:xfrm>
            <a:off x="8728364" y="2078182"/>
            <a:ext cx="3325091" cy="1928553"/>
          </a:xfrm>
          <a:prstGeom prst="rect">
            <a:avLst/>
          </a:prstGeom>
          <a:noFill/>
          <a:ln/>
        </p:spPr>
        <p:txBody>
          <a:bodyPr wrap="square" rtlCol="0" anchor="ctr"/>
          <a:lstStyle/>
          <a:p>
            <a:pPr marL="0" indent="0" algn="l">
              <a:lnSpc>
                <a:spcPts val="2000"/>
              </a:lnSpc>
              <a:buNone/>
            </a:pPr>
            <a:r>
              <a:rPr lang="en-US" sz="1400" dirty="0">
                <a:solidFill>
                  <a:srgbClr val="000000"/>
                </a:solidFill>
              </a:rPr>
              <a:t>Благодаря параллельной обработке элементов матриц, матричные процессоры значительно ускоряют выполнение соответствующих алгоритмов по сравнению с традиционными процессорами.</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454727" y="417715"/>
            <a:ext cx="10141528" cy="581891"/>
          </a:xfrm>
          <a:prstGeom prst="rect">
            <a:avLst/>
          </a:prstGeom>
          <a:noFill/>
          <a:ln/>
        </p:spPr>
        <p:txBody>
          <a:bodyPr wrap="square" rtlCol="0" anchor="ctr"/>
          <a:lstStyle/>
          <a:p>
            <a:pPr marL="0" indent="0" algn="l">
              <a:buNone/>
            </a:pPr>
            <a:r>
              <a:rPr lang="en-US" sz="2200" b="1" dirty="0">
                <a:solidFill>
                  <a:srgbClr val="000000"/>
                </a:solidFill>
              </a:rPr>
              <a:t>Векторные вычисления в практике</a:t>
            </a:r>
            <a:endParaRPr lang="en-US" sz="2200" dirty="0"/>
          </a:p>
        </p:txBody>
      </p:sp>
      <p:sp>
        <p:nvSpPr>
          <p:cNvPr id="4" name="Text 1"/>
          <p:cNvSpPr/>
          <p:nvPr/>
        </p:nvSpPr>
        <p:spPr>
          <a:xfrm>
            <a:off x="1454727" y="1662545"/>
            <a:ext cx="6650182" cy="1180407"/>
          </a:xfrm>
          <a:prstGeom prst="rect">
            <a:avLst/>
          </a:prstGeom>
          <a:noFill/>
          <a:ln/>
        </p:spPr>
        <p:txBody>
          <a:bodyPr wrap="square" rtlCol="0" anchor="ctr"/>
          <a:lstStyle/>
          <a:p>
            <a:pPr marL="0" indent="0" algn="l">
              <a:lnSpc>
                <a:spcPts val="2000"/>
              </a:lnSpc>
              <a:buNone/>
            </a:pPr>
            <a:r>
              <a:rPr lang="en-US" sz="1400" dirty="0">
                <a:solidFill>
                  <a:srgbClr val="000000"/>
                </a:solidFill>
              </a:rPr>
              <a:t>Векторные вычисления представляют собой эффективный метод обработки массивов данных, позволяя значительно ускорить выполнение вычислительно-интенсивных задач за счёт одновременной обработки нескольких элементов вектора.</a:t>
            </a:r>
            <a:endParaRPr lang="en-US" sz="1400" dirty="0"/>
          </a:p>
        </p:txBody>
      </p:sp>
      <p:sp>
        <p:nvSpPr>
          <p:cNvPr id="5" name="Text 2"/>
          <p:cNvSpPr/>
          <p:nvPr/>
        </p:nvSpPr>
        <p:spPr>
          <a:xfrm>
            <a:off x="1454727" y="2909455"/>
            <a:ext cx="6650182" cy="931025"/>
          </a:xfrm>
          <a:prstGeom prst="rect">
            <a:avLst/>
          </a:prstGeom>
          <a:noFill/>
          <a:ln/>
        </p:spPr>
        <p:txBody>
          <a:bodyPr wrap="square" rtlCol="0" anchor="ctr"/>
          <a:lstStyle/>
          <a:p>
            <a:pPr marL="0" indent="0" algn="l">
              <a:lnSpc>
                <a:spcPts val="2000"/>
              </a:lnSpc>
              <a:buNone/>
            </a:pPr>
            <a:r>
              <a:rPr lang="en-US" sz="1400" dirty="0">
                <a:solidFill>
                  <a:srgbClr val="000000"/>
                </a:solidFill>
              </a:rPr>
              <a:t>В практике векторные вычисления находят применение в научных исследованиях, машинном обучении, обработке изображений и видео, обеспечивая высокую производительность и эффективность алгоритмов.</a:t>
            </a:r>
            <a:endParaRPr lang="en-US" sz="1400" dirty="0"/>
          </a:p>
        </p:txBody>
      </p:sp>
      <p:sp>
        <p:nvSpPr>
          <p:cNvPr id="6" name="Text 3"/>
          <p:cNvSpPr/>
          <p:nvPr/>
        </p:nvSpPr>
        <p:spPr>
          <a:xfrm>
            <a:off x="1454727" y="3840480"/>
            <a:ext cx="6650182" cy="1180407"/>
          </a:xfrm>
          <a:prstGeom prst="rect">
            <a:avLst/>
          </a:prstGeom>
          <a:noFill/>
          <a:ln/>
        </p:spPr>
        <p:txBody>
          <a:bodyPr wrap="square" rtlCol="0" anchor="ctr"/>
          <a:lstStyle/>
          <a:p>
            <a:pPr marL="0" indent="0" algn="l">
              <a:lnSpc>
                <a:spcPts val="2000"/>
              </a:lnSpc>
              <a:buNone/>
            </a:pPr>
            <a:r>
              <a:rPr lang="en-US" sz="1400" dirty="0">
                <a:solidFill>
                  <a:srgbClr val="000000"/>
                </a:solidFill>
              </a:rPr>
              <a:t>Использование векторных процессоров в сочетании с параллелизмом и конвейеризацией позволяет достичь существенного прироста производительности по сравнению с традиционными скалярными архитектурами.</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Text 0"/>
          <p:cNvSpPr/>
          <p:nvPr/>
        </p:nvSpPr>
        <p:spPr>
          <a:xfrm>
            <a:off x="1246909" y="2080260"/>
            <a:ext cx="10141528" cy="781393"/>
          </a:xfrm>
          <a:prstGeom prst="rect">
            <a:avLst/>
          </a:prstGeom>
          <a:noFill/>
          <a:ln/>
        </p:spPr>
        <p:txBody>
          <a:bodyPr wrap="square" rtlCol="0" anchor="ctr"/>
          <a:lstStyle/>
          <a:p>
            <a:pPr marL="0" indent="0" algn="l">
              <a:buNone/>
            </a:pPr>
            <a:r>
              <a:rPr lang="en-US" sz="3200" b="1" dirty="0">
                <a:solidFill>
                  <a:srgbClr val="000000"/>
                </a:solidFill>
              </a:rPr>
              <a:t>Спасибо за внимание!</a:t>
            </a:r>
            <a:endParaRPr lang="en-US" sz="3200" dirty="0"/>
          </a:p>
        </p:txBody>
      </p:sp>
      <p:sp>
        <p:nvSpPr>
          <p:cNvPr id="4" name="Text 1"/>
          <p:cNvSpPr/>
          <p:nvPr/>
        </p:nvSpPr>
        <p:spPr>
          <a:xfrm>
            <a:off x="1246909" y="3325091"/>
            <a:ext cx="9975273" cy="931025"/>
          </a:xfrm>
          <a:prstGeom prst="rect">
            <a:avLst/>
          </a:prstGeom>
          <a:noFill/>
          <a:ln/>
        </p:spPr>
        <p:txBody>
          <a:bodyPr wrap="square" rtlCol="0" anchor="ctr"/>
          <a:lstStyle/>
          <a:p>
            <a:pPr marL="0" indent="0" algn="l">
              <a:lnSpc>
                <a:spcPts val="2000"/>
              </a:lnSpc>
              <a:buNone/>
            </a:pPr>
            <a:r>
              <a:rPr lang="en-US" sz="1400" dirty="0">
                <a:solidFill>
                  <a:srgbClr val="000000"/>
                </a:solidFill>
              </a:rPr>
              <a:t>Спасибо за внимание. В этой презентации мы рассмотрели основные принципы параллелизма вычислений, включая конвейеризацию, суперскаляризацию, а также особенности матричных и векторных процессоров. Мы также обсудили преимущества параллелизма и примеры его применения в различных сферах.</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755</Words>
  <Application>Microsoft Office PowerPoint</Application>
  <PresentationFormat>Широкоэкранный</PresentationFormat>
  <Paragraphs>46</Paragraphs>
  <Slides>11</Slides>
  <Notes>11</Notes>
  <HiddenSlides>0</HiddenSlides>
  <MMClips>0</MMClips>
  <ScaleCrop>false</ScaleCrop>
  <HeadingPairs>
    <vt:vector size="6" baseType="variant">
      <vt:variant>
        <vt:lpstr>Использованные шрифты</vt:lpstr>
      </vt:variant>
      <vt:variant>
        <vt:i4>1</vt:i4>
      </vt:variant>
      <vt:variant>
        <vt:lpstr>Тема</vt:lpstr>
      </vt:variant>
      <vt:variant>
        <vt:i4>1</vt:i4>
      </vt:variant>
      <vt:variant>
        <vt:lpstr>Заголовки слайдов</vt:lpstr>
      </vt:variant>
      <vt:variant>
        <vt:i4>11</vt:i4>
      </vt:variant>
    </vt:vector>
  </HeadingPairs>
  <TitlesOfParts>
    <vt:vector size="13" baseType="lpstr">
      <vt:lpstr>Arial</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Тимофей Климин</cp:lastModifiedBy>
  <cp:revision>4</cp:revision>
  <dcterms:created xsi:type="dcterms:W3CDTF">2025-10-30T15:48:37Z</dcterms:created>
  <dcterms:modified xsi:type="dcterms:W3CDTF">2025-12-19T18:35:15Z</dcterms:modified>
</cp:coreProperties>
</file>